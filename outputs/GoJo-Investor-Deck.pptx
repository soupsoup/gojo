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3bb65663e248a6" /><Relationship Type="http://schemas.openxmlformats.org/officeDocument/2006/relationships/extended-properties" Target="/docProps/app.xml" Id="R6c83578902fa4e9e" /><Relationship Type="http://schemas.openxmlformats.org/officeDocument/2006/relationships/officeDocument" Target="/ppt/presentation.xml" Id="R11c6d5ec44a144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72d2ddc7f64b0b"/>
  </p:sldMasterIdLst>
  <p:notesMasterIdLst>
    <p:notesMasterId xmlns:r="http://schemas.openxmlformats.org/officeDocument/2006/relationships" r:id="Rc10491cc7bd24ad5"/>
  </p:notesMasterIdLst>
  <p:sldIdLst>
    <p:sldId xmlns:r="http://schemas.openxmlformats.org/officeDocument/2006/relationships" id="256" r:id="R07e6c27212a34bc4"/>
    <p:sldId xmlns:r="http://schemas.openxmlformats.org/officeDocument/2006/relationships" id="257" r:id="Rd6d8b0c4ba6b4e5e"/>
    <p:sldId xmlns:r="http://schemas.openxmlformats.org/officeDocument/2006/relationships" id="258" r:id="R8ba05a93d0de4e39"/>
    <p:sldId xmlns:r="http://schemas.openxmlformats.org/officeDocument/2006/relationships" id="259" r:id="Rab515a7889664205"/>
    <p:sldId xmlns:r="http://schemas.openxmlformats.org/officeDocument/2006/relationships" id="260" r:id="R49f71a674005405a"/>
    <p:sldId xmlns:r="http://schemas.openxmlformats.org/officeDocument/2006/relationships" id="261" r:id="R64f597fe3a0e4ae8"/>
    <p:sldId xmlns:r="http://schemas.openxmlformats.org/officeDocument/2006/relationships" id="262" r:id="Rdf32b499445542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37f216a9204186" /><Relationship Type="http://schemas.openxmlformats.org/officeDocument/2006/relationships/slideMaster" Target="/ppt/slideMasters/slideMaster1.xml" Id="Ra072d2ddc7f64b0b" /><Relationship Type="http://schemas.openxmlformats.org/officeDocument/2006/relationships/notesMaster" Target="/ppt/notesMasters/notesMaster1.xml" Id="Rc10491cc7bd24ad5" /><Relationship Type="http://schemas.openxmlformats.org/officeDocument/2006/relationships/presProps" Target="/ppt/presProps.xml" Id="R2d847948155040da" /><Relationship Type="http://schemas.openxmlformats.org/officeDocument/2006/relationships/tableStyles" Target="/ppt/tableStyles.xml" Id="R9b96c323109e40d8" /><Relationship Type="http://schemas.openxmlformats.org/officeDocument/2006/relationships/slide" Target="/ppt/slides/slide1.xml" Id="R07e6c27212a34bc4" /><Relationship Type="http://schemas.openxmlformats.org/officeDocument/2006/relationships/slide" Target="/ppt/slides/slide2.xml" Id="Rd6d8b0c4ba6b4e5e" /><Relationship Type="http://schemas.openxmlformats.org/officeDocument/2006/relationships/slide" Target="/ppt/slides/slide3.xml" Id="R8ba05a93d0de4e39" /><Relationship Type="http://schemas.openxmlformats.org/officeDocument/2006/relationships/slide" Target="/ppt/slides/slide4.xml" Id="Rab515a7889664205" /><Relationship Type="http://schemas.openxmlformats.org/officeDocument/2006/relationships/slide" Target="/ppt/slides/slide5.xml" Id="R49f71a674005405a" /><Relationship Type="http://schemas.openxmlformats.org/officeDocument/2006/relationships/slide" Target="/ppt/slides/slide6.xml" Id="R64f597fe3a0e4ae8" /><Relationship Type="http://schemas.openxmlformats.org/officeDocument/2006/relationships/slide" Target="/ppt/slides/slide7.xml" Id="Rdf32b499445542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f8d69279a247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81168010284aa9" /><Relationship Type="http://schemas.openxmlformats.org/officeDocument/2006/relationships/notesMaster" Target="/ppt/notesMasters/notesMaster1.xml" Id="Rb2ba5579c1e04e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88e83f9f344074" /><Relationship Type="http://schemas.openxmlformats.org/officeDocument/2006/relationships/notesMaster" Target="/ppt/notesMasters/notesMaster1.xml" Id="Rff571c1cf66748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6daad70012467e" /><Relationship Type="http://schemas.openxmlformats.org/officeDocument/2006/relationships/notesMaster" Target="/ppt/notesMasters/notesMaster1.xml" Id="R982017a1700647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c921f8b1604b52" /><Relationship Type="http://schemas.openxmlformats.org/officeDocument/2006/relationships/notesMaster" Target="/ppt/notesMasters/notesMaster1.xml" Id="Rcf2e6a4cc52e45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685b93a6824736" /><Relationship Type="http://schemas.openxmlformats.org/officeDocument/2006/relationships/notesMaster" Target="/ppt/notesMasters/notesMaster1.xml" Id="R8b214792af2541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20973d1f0f4409" /><Relationship Type="http://schemas.openxmlformats.org/officeDocument/2006/relationships/notesMaster" Target="/ppt/notesMasters/notesMaster1.xml" Id="Rc6d5fd1800d249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ed8cbe917a4410" /><Relationship Type="http://schemas.openxmlformats.org/officeDocument/2006/relationships/notesMaster" Target="/ppt/notesMasters/notesMaster1.xml" Id="Rb258dfcb02e242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d616a1d7bf45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9dac51259e4449" /><Relationship Type="http://schemas.openxmlformats.org/officeDocument/2006/relationships/slideLayout" Target="/ppt/slideLayouts/slideLayout1.xml" Id="R333ea75564fd42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3ea75564fd42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bd504868b45cc" /><Relationship Type="http://schemas.openxmlformats.org/officeDocument/2006/relationships/notesSlide" Target="/ppt/notesSlides/notesSlide1.xml" Id="R9844d6734dd348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15cab01cb463d" /><Relationship Type="http://schemas.openxmlformats.org/officeDocument/2006/relationships/notesSlide" Target="/ppt/notesSlides/notesSlide2.xml" Id="R0fb3d70dfccc47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59c9655c64f0a" /><Relationship Type="http://schemas.openxmlformats.org/officeDocument/2006/relationships/notesSlide" Target="/ppt/notesSlides/notesSlide3.xml" Id="Rb412db589f374c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9315c47ef44d7" /><Relationship Type="http://schemas.openxmlformats.org/officeDocument/2006/relationships/notesSlide" Target="/ppt/notesSlides/notesSlide4.xml" Id="Rd3afca6211af45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58a4d7e224000" /><Relationship Type="http://schemas.openxmlformats.org/officeDocument/2006/relationships/notesSlide" Target="/ppt/notesSlides/notesSlide5.xml" Id="R5752d59f273d49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23b71cf194b7f" /><Relationship Type="http://schemas.openxmlformats.org/officeDocument/2006/relationships/notesSlide" Target="/ppt/notesSlides/notesSlide6.xml" Id="R3de3f75a859449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ff10195684588" /><Relationship Type="http://schemas.openxmlformats.org/officeDocument/2006/relationships/notesSlide" Target="/ppt/notesSlides/notesSlide7.xml" Id="R9a6ca04c5a224a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ED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1">
            <a:extLst xmlns:a="http://schemas.openxmlformats.org/drawingml/2006/main">
              <a:ext uri="{FF2B5EF4-FFF2-40B4-BE49-F238E27FC236}">
                <a16:creationId xmlns:a16="http://schemas.microsoft.com/office/drawing/2014/main" id="{6151B017-9E18-416A-B37C-BDCEB946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GOJO</a:t>
            </a:r>
          </a:p>
        </p:txBody>
      </p:sp>
      <p:sp>
        <p:nvSpPr>
          <p:cNvPr id="2" name="brand-accent-1">
            <a:extLst xmlns:a="http://schemas.openxmlformats.org/drawingml/2006/main">
              <a:ext uri="{FF2B5EF4-FFF2-40B4-BE49-F238E27FC236}">
                <a16:creationId xmlns:a16="http://schemas.microsoft.com/office/drawing/2014/main" id="{19F14780-FBEB-4A49-A4D6-781F02D2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1">
            <a:extLst xmlns:a="http://schemas.openxmlformats.org/drawingml/2006/main">
              <a:ext uri="{FF2B5EF4-FFF2-40B4-BE49-F238E27FC236}">
                <a16:creationId xmlns:a16="http://schemas.microsoft.com/office/drawing/2014/main" id="{5E0BF521-004A-4ACE-8B47-BE5BD7FF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36D"/>
                </a:solidFill>
                <a:latin typeface="Helvetica Neue"/>
                <a:ea typeface="Helvetica Neue"/>
                <a:cs typeface="Helvetica Neue"/>
              </a:rPr>
              <a:t>INVESTOR OVERVIEW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A39E672F-27DA-4006-8160-602AB97B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36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cover-signal">
            <a:extLst xmlns:a="http://schemas.openxmlformats.org/drawingml/2006/main">
              <a:ext uri="{FF2B5EF4-FFF2-40B4-BE49-F238E27FC236}">
                <a16:creationId xmlns:a16="http://schemas.microsoft.com/office/drawing/2014/main" id="{998E3ACA-9F9F-436E-85AE-57E80CB4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0"/>
            <a:ext cx="3448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orange">
            <a:extLst xmlns:a="http://schemas.openxmlformats.org/drawingml/2006/main">
              <a:ext uri="{FF2B5EF4-FFF2-40B4-BE49-F238E27FC236}">
                <a16:creationId xmlns:a16="http://schemas.microsoft.com/office/drawing/2014/main" id="{91148F22-1DB6-4EB2-9043-56EEA6B0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48250"/>
            <a:ext cx="3448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A6A6C9B-11D5-42BD-88FE-072FBDC3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7429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The news habit</a:t>
            </a:r>
          </a:p>
          <a:p xmlns:a="http://schemas.openxmlformats.org/drawingml/2006/main">
            <a:pPr algn="l">
              <a:defRPr sz="4950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built for one person.</a:t>
            </a:r>
          </a:p>
        </p:txBody>
      </p:sp>
      <p:sp>
        <p:nvSpPr>
          <p:cNvPr id="8" name="cover-sub">
            <a:extLst xmlns:a="http://schemas.openxmlformats.org/drawingml/2006/main">
              <a:ext uri="{FF2B5EF4-FFF2-40B4-BE49-F238E27FC236}">
                <a16:creationId xmlns:a16="http://schemas.microsoft.com/office/drawing/2014/main" id="{B8D6CE68-299E-4BE9-AB87-92689C86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685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GoJo turns a listener’s exact priorities into a sourced five-minute audio briefing—delivered every morning by email.</a:t>
            </a:r>
          </a:p>
        </p:txBody>
      </p:sp>
      <p:sp>
        <p:nvSpPr>
          <p:cNvPr id="9" name="cover-tag">
            <a:extLst xmlns:a="http://schemas.openxmlformats.org/drawingml/2006/main">
              <a:ext uri="{FF2B5EF4-FFF2-40B4-BE49-F238E27FC236}">
                <a16:creationId xmlns:a16="http://schemas.microsoft.com/office/drawing/2014/main" id="{3B5DA18D-DE8B-4F99-96EF-D1309167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736D"/>
                </a:solidFill>
                <a:latin typeface="Helvetica Neue"/>
                <a:ea typeface="Helvetica Neue"/>
                <a:cs typeface="Helvetica Neue"/>
              </a:rPr>
              <a:t>PERSONAL AUDIO  /  CURATED DAILY  /  CONTEXT INCLUDED</a:t>
            </a:r>
          </a:p>
        </p:txBody>
      </p:sp>
      <p:sp>
        <p:nvSpPr>
          <p:cNvPr id="10" name="cover-mark">
            <a:extLst xmlns:a="http://schemas.openxmlformats.org/drawingml/2006/main">
              <a:ext uri="{FF2B5EF4-FFF2-40B4-BE49-F238E27FC236}">
                <a16:creationId xmlns:a16="http://schemas.microsoft.com/office/drawing/2014/main" id="{722D4ADD-D0A2-435D-8277-F560A2A8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238250"/>
            <a:ext cx="238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GO</a:t>
            </a:r>
          </a:p>
          <a:p xmlns:a="http://schemas.openxmlformats.org/drawingml/2006/main">
            <a:pPr algn="ctr">
              <a:defRPr sz="5400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JO</a:t>
            </a:r>
          </a:p>
        </p:txBody>
      </p:sp>
    </p:spTree>
    <p:extLst>
      <p:ext uri="{BB962C8B-B14F-4D97-AF65-F5344CB8AC3E}">
        <p14:creationId xmlns:p14="http://schemas.microsoft.com/office/powerpoint/2010/main" val="9869295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2">
            <a:extLst xmlns:a="http://schemas.openxmlformats.org/drawingml/2006/main">
              <a:ext uri="{FF2B5EF4-FFF2-40B4-BE49-F238E27FC236}">
                <a16:creationId xmlns:a16="http://schemas.microsoft.com/office/drawing/2014/main" id="{5F37D94B-E085-45DC-B4E0-B66581C5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GOJO</a:t>
            </a:r>
          </a:p>
        </p:txBody>
      </p:sp>
      <p:sp>
        <p:nvSpPr>
          <p:cNvPr id="2" name="brand-accent-2">
            <a:extLst xmlns:a="http://schemas.openxmlformats.org/drawingml/2006/main">
              <a:ext uri="{FF2B5EF4-FFF2-40B4-BE49-F238E27FC236}">
                <a16:creationId xmlns:a16="http://schemas.microsoft.com/office/drawing/2014/main" id="{DE16A737-6816-43C9-BCF3-1E7D7807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2">
            <a:extLst xmlns:a="http://schemas.openxmlformats.org/drawingml/2006/main">
              <a:ext uri="{FF2B5EF4-FFF2-40B4-BE49-F238E27FC236}">
                <a16:creationId xmlns:a16="http://schemas.microsoft.com/office/drawing/2014/main" id="{361A96DD-63E1-48D9-8809-757A8143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36D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239C03B9-A30D-4BC3-9F01-7433EBA0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3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ED934946-65CC-41EA-82B8-059447A5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7250"/>
            <a:ext cx="809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News is abundant.</a:t>
            </a:r>
          </a:p>
          <a:p xmlns:a="http://schemas.openxmlformats.org/drawingml/2006/main">
            <a:pPr algn="l">
              <a:defRPr sz="36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Understanding is scarce.</a:t>
            </a:r>
          </a:p>
        </p:txBody>
      </p:sp>
      <p:sp>
        <p:nvSpPr>
          <p:cNvPr id="6" name="p-card-0">
            <a:extLst xmlns:a="http://schemas.openxmlformats.org/drawingml/2006/main">
              <a:ext uri="{FF2B5EF4-FFF2-40B4-BE49-F238E27FC236}">
                <a16:creationId xmlns:a16="http://schemas.microsoft.com/office/drawing/2014/main" id="{1D0B6FFE-0423-4AA6-A1A2-DC88E8E5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3486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-num-0">
            <a:extLst xmlns:a="http://schemas.openxmlformats.org/drawingml/2006/main">
              <a:ext uri="{FF2B5EF4-FFF2-40B4-BE49-F238E27FC236}">
                <a16:creationId xmlns:a16="http://schemas.microsoft.com/office/drawing/2014/main" id="{E2D0A641-D24B-4D21-8BEB-1E855F4A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p-head-0">
            <a:extLst xmlns:a="http://schemas.openxmlformats.org/drawingml/2006/main">
              <a:ext uri="{FF2B5EF4-FFF2-40B4-BE49-F238E27FC236}">
                <a16:creationId xmlns:a16="http://schemas.microsoft.com/office/drawing/2014/main" id="{6B553CDA-89A6-4D76-8C09-3DED6423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Feeds optimize for more scrolling</a:t>
            </a:r>
          </a:p>
        </p:txBody>
      </p:sp>
      <p:sp>
        <p:nvSpPr>
          <p:cNvPr id="9" name="p-body-0">
            <a:extLst xmlns:a="http://schemas.openxmlformats.org/drawingml/2006/main">
              <a:ext uri="{FF2B5EF4-FFF2-40B4-BE49-F238E27FC236}">
                <a16:creationId xmlns:a16="http://schemas.microsoft.com/office/drawing/2014/main" id="{8AB785B6-0827-4A46-AB46-A7ACDEA6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The user does the work: filtering, opening, comparing and deciding what matters.</a:t>
            </a:r>
          </a:p>
        </p:txBody>
      </p:sp>
      <p:sp>
        <p:nvSpPr>
          <p:cNvPr id="10" name="p-card-1">
            <a:extLst xmlns:a="http://schemas.openxmlformats.org/drawingml/2006/main">
              <a:ext uri="{FF2B5EF4-FFF2-40B4-BE49-F238E27FC236}">
                <a16:creationId xmlns:a16="http://schemas.microsoft.com/office/drawing/2014/main" id="{2E526B49-1B9F-47AC-8C1A-685C49E2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3486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-num-1">
            <a:extLst xmlns:a="http://schemas.openxmlformats.org/drawingml/2006/main">
              <a:ext uri="{FF2B5EF4-FFF2-40B4-BE49-F238E27FC236}">
                <a16:creationId xmlns:a16="http://schemas.microsoft.com/office/drawing/2014/main" id="{53BDC330-744E-47AF-96B7-4EF3B220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480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p-head-1">
            <a:extLst xmlns:a="http://schemas.openxmlformats.org/drawingml/2006/main">
              <a:ext uri="{FF2B5EF4-FFF2-40B4-BE49-F238E27FC236}">
                <a16:creationId xmlns:a16="http://schemas.microsoft.com/office/drawing/2014/main" id="{D7B44624-A325-4D42-BEF5-4F0D5383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242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Headlines arrive without context</a:t>
            </a:r>
          </a:p>
        </p:txBody>
      </p:sp>
      <p:sp>
        <p:nvSpPr>
          <p:cNvPr id="13" name="p-body-1">
            <a:extLst xmlns:a="http://schemas.openxmlformats.org/drawingml/2006/main">
              <a:ext uri="{FF2B5EF4-FFF2-40B4-BE49-F238E27FC236}">
                <a16:creationId xmlns:a16="http://schemas.microsoft.com/office/drawing/2014/main" id="{F4BF53A4-21A0-4B63-9EF9-74A9E89B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2912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A five-second glance rarely explains what happened, why it matters or what comes next.</a:t>
            </a:r>
          </a:p>
        </p:txBody>
      </p:sp>
      <p:sp>
        <p:nvSpPr>
          <p:cNvPr id="14" name="p-card-2">
            <a:extLst xmlns:a="http://schemas.openxmlformats.org/drawingml/2006/main">
              <a:ext uri="{FF2B5EF4-FFF2-40B4-BE49-F238E27FC236}">
                <a16:creationId xmlns:a16="http://schemas.microsoft.com/office/drawing/2014/main" id="{A5789B04-29B6-4645-BE26-FDD7EBC7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3486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-num-2">
            <a:extLst xmlns:a="http://schemas.openxmlformats.org/drawingml/2006/main">
              <a:ext uri="{FF2B5EF4-FFF2-40B4-BE49-F238E27FC236}">
                <a16:creationId xmlns:a16="http://schemas.microsoft.com/office/drawing/2014/main" id="{3E8203FB-84ED-4AB4-A4A9-8E506AE1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p-head-2">
            <a:extLst xmlns:a="http://schemas.openxmlformats.org/drawingml/2006/main">
              <a:ext uri="{FF2B5EF4-FFF2-40B4-BE49-F238E27FC236}">
                <a16:creationId xmlns:a16="http://schemas.microsoft.com/office/drawing/2014/main" id="{617C30CE-D461-4BB1-86C1-FD080BDD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Generic briefings miss the niche</a:t>
            </a:r>
          </a:p>
        </p:txBody>
      </p:sp>
      <p:sp>
        <p:nvSpPr>
          <p:cNvPr id="17" name="p-body-2">
            <a:extLst xmlns:a="http://schemas.openxmlformats.org/drawingml/2006/main">
              <a:ext uri="{FF2B5EF4-FFF2-40B4-BE49-F238E27FC236}">
                <a16:creationId xmlns:a16="http://schemas.microsoft.com/office/drawing/2014/main" id="{AA00B629-1C4E-487E-B134-75722BB6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Broad categories cannot capture a specific company, team, person, place or unfolding theme.</a:t>
            </a:r>
          </a:p>
        </p:txBody>
      </p:sp>
    </p:spTree>
    <p:extLst>
      <p:ext uri="{BB962C8B-B14F-4D97-AF65-F5344CB8AC3E}">
        <p14:creationId xmlns:p14="http://schemas.microsoft.com/office/powerpoint/2010/main" val="82896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ED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3">
            <a:extLst xmlns:a="http://schemas.openxmlformats.org/drawingml/2006/main">
              <a:ext uri="{FF2B5EF4-FFF2-40B4-BE49-F238E27FC236}">
                <a16:creationId xmlns:a16="http://schemas.microsoft.com/office/drawing/2014/main" id="{0D7302C9-55F0-45C6-BB7C-50205553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GOJO</a:t>
            </a:r>
          </a:p>
        </p:txBody>
      </p:sp>
      <p:sp>
        <p:nvSpPr>
          <p:cNvPr id="2" name="brand-accent-3">
            <a:extLst xmlns:a="http://schemas.openxmlformats.org/drawingml/2006/main">
              <a:ext uri="{FF2B5EF4-FFF2-40B4-BE49-F238E27FC236}">
                <a16:creationId xmlns:a16="http://schemas.microsoft.com/office/drawing/2014/main" id="{46A64458-3ECB-48A1-A238-CEDB656F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3">
            <a:extLst xmlns:a="http://schemas.openxmlformats.org/drawingml/2006/main">
              <a:ext uri="{FF2B5EF4-FFF2-40B4-BE49-F238E27FC236}">
                <a16:creationId xmlns:a16="http://schemas.microsoft.com/office/drawing/2014/main" id="{2D8F5F2D-A433-4494-8855-6EA2AFEC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36D"/>
                </a:solidFill>
                <a:latin typeface="Helvetica Neue"/>
                <a:ea typeface="Helvetica Neue"/>
                <a:cs typeface="Helvetica Neue"/>
              </a:rPr>
              <a:t>THE PRODUCT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A0DC865F-91EA-4144-8391-F94AA5DC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3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product-title">
            <a:extLst xmlns:a="http://schemas.openxmlformats.org/drawingml/2006/main">
              <a:ext uri="{FF2B5EF4-FFF2-40B4-BE49-F238E27FC236}">
                <a16:creationId xmlns:a16="http://schemas.microsoft.com/office/drawing/2014/main" id="{DBC661E8-91E3-4FBC-9383-C24BCEC2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A complete morning briefing,</a:t>
            </a:r>
          </a:p>
          <a:p xmlns:a="http://schemas.openxmlformats.org/drawingml/2006/main">
            <a:pPr algn="l">
              <a:defRPr sz="35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without the morning scroll.</a:t>
            </a:r>
          </a:p>
        </p:txBody>
      </p:sp>
      <p:sp>
        <p:nvSpPr>
          <p:cNvPr id="6" name="stage-0">
            <a:extLst xmlns:a="http://schemas.openxmlformats.org/drawingml/2006/main">
              <a:ext uri="{FF2B5EF4-FFF2-40B4-BE49-F238E27FC236}">
                <a16:creationId xmlns:a16="http://schemas.microsoft.com/office/drawing/2014/main" id="{3563D784-371E-4035-BBC4-2F70930A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-no-0">
            <a:extLst xmlns:a="http://schemas.openxmlformats.org/drawingml/2006/main">
              <a:ext uri="{FF2B5EF4-FFF2-40B4-BE49-F238E27FC236}">
                <a16:creationId xmlns:a16="http://schemas.microsoft.com/office/drawing/2014/main" id="{D13CB2F0-61BA-4ECE-8F04-55913279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099CE74B-7C72-44ED-A172-6F2DA1FB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TUNE</a:t>
            </a:r>
          </a:p>
        </p:txBody>
      </p:sp>
      <p:sp>
        <p:nvSpPr>
          <p:cNvPr id="9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339CEF25-D14F-4A01-A6E3-88225998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114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Choose exact interests—or explore topics and subtopics.</a:t>
            </a:r>
          </a:p>
        </p:txBody>
      </p:sp>
      <p:sp>
        <p:nvSpPr>
          <p:cNvPr id="10" name="stage-1">
            <a:extLst xmlns:a="http://schemas.openxmlformats.org/drawingml/2006/main">
              <a:ext uri="{FF2B5EF4-FFF2-40B4-BE49-F238E27FC236}">
                <a16:creationId xmlns:a16="http://schemas.microsoft.com/office/drawing/2014/main" id="{AA982F37-36A1-4585-A1FB-A1EE27CE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575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-no-1">
            <a:extLst xmlns:a="http://schemas.openxmlformats.org/drawingml/2006/main">
              <a:ext uri="{FF2B5EF4-FFF2-40B4-BE49-F238E27FC236}">
                <a16:creationId xmlns:a16="http://schemas.microsoft.com/office/drawing/2014/main" id="{86236866-0DA9-4C74-8E5A-FFCA2510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48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E5BF82EE-5E5F-4FB4-A440-088CEB3D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766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CURATE</a:t>
            </a:r>
          </a:p>
        </p:txBody>
      </p:sp>
      <p:sp>
        <p:nvSpPr>
          <p:cNvPr id="13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936A22B4-4044-4A03-9F84-BEAC91B1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00500"/>
            <a:ext cx="2114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Research current reporting and select the most consequential stories.</a:t>
            </a:r>
          </a:p>
        </p:txBody>
      </p:sp>
      <p:sp>
        <p:nvSpPr>
          <p:cNvPr id="14" name="stage-2">
            <a:extLst xmlns:a="http://schemas.openxmlformats.org/drawingml/2006/main">
              <a:ext uri="{FF2B5EF4-FFF2-40B4-BE49-F238E27FC236}">
                <a16:creationId xmlns:a16="http://schemas.microsoft.com/office/drawing/2014/main" id="{51116509-55B6-4F81-BE34-6698D46E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no-2">
            <a:extLst xmlns:a="http://schemas.openxmlformats.org/drawingml/2006/main">
              <a:ext uri="{FF2B5EF4-FFF2-40B4-BE49-F238E27FC236}">
                <a16:creationId xmlns:a16="http://schemas.microsoft.com/office/drawing/2014/main" id="{7D0A96FE-2002-47BC-A9E0-DEE6554F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48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08294366-8506-42E9-B19C-336683F8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766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EXPLAIN</a:t>
            </a:r>
          </a:p>
        </p:txBody>
      </p:sp>
      <p:sp>
        <p:nvSpPr>
          <p:cNvPr id="17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1EBAA33C-0EAE-48F4-8FDC-9E21C660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2114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Add background, why it matters and what to watch next.</a:t>
            </a:r>
          </a:p>
        </p:txBody>
      </p:sp>
      <p:sp>
        <p:nvSpPr>
          <p:cNvPr id="18" name="stage-3">
            <a:extLst xmlns:a="http://schemas.openxmlformats.org/drawingml/2006/main">
              <a:ext uri="{FF2B5EF4-FFF2-40B4-BE49-F238E27FC236}">
                <a16:creationId xmlns:a16="http://schemas.microsoft.com/office/drawing/2014/main" id="{C93B7D5A-D198-496B-839D-26C96F62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575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age-no-3">
            <a:extLst xmlns:a="http://schemas.openxmlformats.org/drawingml/2006/main">
              <a:ext uri="{FF2B5EF4-FFF2-40B4-BE49-F238E27FC236}">
                <a16:creationId xmlns:a16="http://schemas.microsoft.com/office/drawing/2014/main" id="{7E6B7FCB-1B35-4126-B8A0-48E9AC28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48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E2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7E23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22C21276-3DFB-435D-9B1F-40E07D86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766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ED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2EDDF"/>
                </a:solidFill>
                <a:latin typeface="Helvetica Neue"/>
                <a:ea typeface="Helvetica Neue"/>
                <a:cs typeface="Helvetica Neue"/>
              </a:rPr>
              <a:t>DELIVER</a:t>
            </a:r>
          </a:p>
        </p:txBody>
      </p:sp>
      <p:sp>
        <p:nvSpPr>
          <p:cNvPr id="21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78F06BE7-EAFB-4092-AF81-2F554D5F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00500"/>
            <a:ext cx="2114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ED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2EDDF"/>
                </a:solidFill>
                <a:latin typeface="Helvetica Neue"/>
                <a:ea typeface="Helvetica Neue"/>
                <a:cs typeface="Helvetica Neue"/>
              </a:rPr>
              <a:t>Natural voice plus a visual email summary, ready for the commute.</a:t>
            </a:r>
          </a:p>
        </p:txBody>
      </p:sp>
      <p:sp>
        <p:nvSpPr>
          <p:cNvPr id="22" name="product-proof">
            <a:extLst xmlns:a="http://schemas.openxmlformats.org/drawingml/2006/main">
              <a:ext uri="{FF2B5EF4-FFF2-40B4-BE49-F238E27FC236}">
                <a16:creationId xmlns:a16="http://schemas.microsoft.com/office/drawing/2014/main" id="{62786FAB-C310-4E25-9A38-3F2F2E2E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rPr>
              <a:t>WORKING POC</a:t>
            </a:r>
          </a:p>
        </p:txBody>
      </p:sp>
      <p:sp>
        <p:nvSpPr>
          <p:cNvPr id="23" name="product-proof-copy">
            <a:extLst xmlns:a="http://schemas.openxmlformats.org/drawingml/2006/main">
              <a:ext uri="{FF2B5EF4-FFF2-40B4-BE49-F238E27FC236}">
                <a16:creationId xmlns:a16="http://schemas.microsoft.com/office/drawing/2014/main" id="{A500C0FA-5EFC-4A2D-BE89-EDF0E9FB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905500"/>
            <a:ext cx="828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36D"/>
                </a:solidFill>
                <a:latin typeface="Helvetica Neue"/>
                <a:ea typeface="Helvetica Neue"/>
                <a:cs typeface="Helvetica Neue"/>
              </a:rPr>
              <a:t>Voice onboarding · live web research · sourced summaries · ElevenLabs narration · email delivery</a:t>
            </a:r>
          </a:p>
        </p:txBody>
      </p:sp>
    </p:spTree>
    <p:extLst>
      <p:ext uri="{BB962C8B-B14F-4D97-AF65-F5344CB8AC3E}">
        <p14:creationId xmlns:p14="http://schemas.microsoft.com/office/powerpoint/2010/main" val="13887485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4">
            <a:extLst xmlns:a="http://schemas.openxmlformats.org/drawingml/2006/main">
              <a:ext uri="{FF2B5EF4-FFF2-40B4-BE49-F238E27FC236}">
                <a16:creationId xmlns:a16="http://schemas.microsoft.com/office/drawing/2014/main" id="{6C5EF444-A7EF-48FC-B0C7-85694A46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GOJO</a:t>
            </a:r>
          </a:p>
        </p:txBody>
      </p:sp>
      <p:sp>
        <p:nvSpPr>
          <p:cNvPr id="2" name="brand-accent-4">
            <a:extLst xmlns:a="http://schemas.openxmlformats.org/drawingml/2006/main">
              <a:ext uri="{FF2B5EF4-FFF2-40B4-BE49-F238E27FC236}">
                <a16:creationId xmlns:a16="http://schemas.microsoft.com/office/drawing/2014/main" id="{72CD9E30-1F22-4F18-80C1-B2EDDA8A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4">
            <a:extLst xmlns:a="http://schemas.openxmlformats.org/drawingml/2006/main">
              <a:ext uri="{FF2B5EF4-FFF2-40B4-BE49-F238E27FC236}">
                <a16:creationId xmlns:a16="http://schemas.microsoft.com/office/drawing/2014/main" id="{6E9461C3-489B-4E9F-B3BB-4D36AB09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36D"/>
                </a:solidFill>
                <a:latin typeface="Helvetica Neue"/>
                <a:ea typeface="Helvetica Neue"/>
                <a:cs typeface="Helvetica Neue"/>
              </a:rPr>
              <a:t>WHY IT WINS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04C45868-7265-406C-B457-DEEFE09C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3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pers-title">
            <a:extLst xmlns:a="http://schemas.openxmlformats.org/drawingml/2006/main">
              <a:ext uri="{FF2B5EF4-FFF2-40B4-BE49-F238E27FC236}">
                <a16:creationId xmlns:a16="http://schemas.microsoft.com/office/drawing/2014/main" id="{63976512-EB73-470E-940F-99E00DB9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781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Personalization starts where</a:t>
            </a:r>
          </a:p>
          <a:p xmlns:a="http://schemas.openxmlformats.org/drawingml/2006/main">
            <a:pPr algn="l">
              <a:defRPr sz="35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category menus stop.</a:t>
            </a:r>
          </a:p>
        </p:txBody>
      </p:sp>
      <p:sp>
        <p:nvSpPr>
          <p:cNvPr id="6" name="pers-left">
            <a:extLst xmlns:a="http://schemas.openxmlformats.org/drawingml/2006/main">
              <a:ext uri="{FF2B5EF4-FFF2-40B4-BE49-F238E27FC236}">
                <a16:creationId xmlns:a16="http://schemas.microsoft.com/office/drawing/2014/main" id="{705F025D-0FAE-4F44-98AF-335FD56E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2197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ers-right">
            <a:extLst xmlns:a="http://schemas.openxmlformats.org/drawingml/2006/main">
              <a:ext uri="{FF2B5EF4-FFF2-40B4-BE49-F238E27FC236}">
                <a16:creationId xmlns:a16="http://schemas.microsoft.com/office/drawing/2014/main" id="{14215E08-FD93-465C-A192-1743DDD9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56769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ers-left-k">
            <a:extLst xmlns:a="http://schemas.openxmlformats.org/drawingml/2006/main">
              <a:ext uri="{FF2B5EF4-FFF2-40B4-BE49-F238E27FC236}">
                <a16:creationId xmlns:a16="http://schemas.microsoft.com/office/drawing/2014/main" id="{28623191-315C-4054-BB19-A242F85A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rPr>
              <a:t>FREEFORM PRIORITIES</a:t>
            </a:r>
          </a:p>
        </p:txBody>
      </p:sp>
      <p:sp>
        <p:nvSpPr>
          <p:cNvPr id="9" name="pers-left-h">
            <a:extLst xmlns:a="http://schemas.openxmlformats.org/drawingml/2006/main">
              <a:ext uri="{FF2B5EF4-FFF2-40B4-BE49-F238E27FC236}">
                <a16:creationId xmlns:a16="http://schemas.microsoft.com/office/drawing/2014/main" id="{D6B16A33-10A5-44C6-82B5-443C878F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Rank what matters</a:t>
            </a:r>
          </a:p>
        </p:txBody>
      </p:sp>
      <p:sp>
        <p:nvSpPr>
          <p:cNvPr id="10" name="pers-left-b">
            <a:extLst xmlns:a="http://schemas.openxmlformats.org/drawingml/2006/main">
              <a:ext uri="{FF2B5EF4-FFF2-40B4-BE49-F238E27FC236}">
                <a16:creationId xmlns:a16="http://schemas.microsoft.com/office/drawing/2014/main" id="{7BDEB2C9-419C-4653-93F3-C180F100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428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“AI copyright lawsuits”</a:t>
            </a:r>
          </a:p>
          <a:p xmlns:a="http://schemas.openxmlformats.org/drawingml/2006/main">
            <a:pPr algn="l">
              <a:defRPr sz="17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“New York Mets prospects”</a:t>
            </a:r>
          </a:p>
          <a:p xmlns:a="http://schemas.openxmlformats.org/drawingml/2006/main">
            <a:pPr algn="l">
              <a:defRPr sz="17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“Independent film distribution”</a:t>
            </a:r>
          </a:p>
        </p:txBody>
      </p:sp>
      <p:sp>
        <p:nvSpPr>
          <p:cNvPr id="11" name="pers-right-k">
            <a:extLst xmlns:a="http://schemas.openxmlformats.org/drawingml/2006/main">
              <a:ext uri="{FF2B5EF4-FFF2-40B4-BE49-F238E27FC236}">
                <a16:creationId xmlns:a16="http://schemas.microsoft.com/office/drawing/2014/main" id="{05139FC4-937E-4291-9EED-FD45A182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98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E2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7E23F"/>
                </a:solidFill>
                <a:latin typeface="Helvetica Neue"/>
                <a:ea typeface="Helvetica Neue"/>
                <a:cs typeface="Helvetica Neue"/>
              </a:rPr>
              <a:t>GUIDED DISCOVERY</a:t>
            </a:r>
          </a:p>
        </p:txBody>
      </p:sp>
      <p:sp>
        <p:nvSpPr>
          <p:cNvPr id="12" name="pers-right-h">
            <a:extLst xmlns:a="http://schemas.openxmlformats.org/drawingml/2006/main">
              <a:ext uri="{FF2B5EF4-FFF2-40B4-BE49-F238E27FC236}">
                <a16:creationId xmlns:a16="http://schemas.microsoft.com/office/drawing/2014/main" id="{96126542-67DE-4D19-92F6-9B75EF07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38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2ED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2EDDF"/>
                </a:solidFill>
                <a:latin typeface="Helvetica Neue"/>
                <a:ea typeface="Helvetica Neue"/>
                <a:cs typeface="Helvetica Neue"/>
              </a:rPr>
              <a:t>Go broad, then go deep</a:t>
            </a:r>
          </a:p>
        </p:txBody>
      </p:sp>
      <p:sp>
        <p:nvSpPr>
          <p:cNvPr id="13" name="pers-right-b">
            <a:extLst xmlns:a="http://schemas.openxmlformats.org/drawingml/2006/main">
              <a:ext uri="{FF2B5EF4-FFF2-40B4-BE49-F238E27FC236}">
                <a16:creationId xmlns:a16="http://schemas.microsoft.com/office/drawing/2014/main" id="{9A889398-47EE-408B-9F5C-FBFB7F8F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5762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2ED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2EDDF"/>
                </a:solidFill>
                <a:latin typeface="Helvetica Neue"/>
                <a:ea typeface="Helvetica Neue"/>
                <a:cs typeface="Helvetica Neue"/>
              </a:rPr>
              <a:t>Main topic bubbles reveal relevant subtopics. Priority order carries directly into story selection and airtime.</a:t>
            </a:r>
          </a:p>
        </p:txBody>
      </p:sp>
      <p:sp>
        <p:nvSpPr>
          <p:cNvPr id="14" name="pers-bottom">
            <a:extLst xmlns:a="http://schemas.openxmlformats.org/drawingml/2006/main">
              <a:ext uri="{FF2B5EF4-FFF2-40B4-BE49-F238E27FC236}">
                <a16:creationId xmlns:a16="http://schemas.microsoft.com/office/drawing/2014/main" id="{DF8E0FD0-97B0-4C0C-8CAA-DB74317F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48375"/>
            <a:ext cx="1081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The result is not a demographic segment. It is an editorial brief for one person.</a:t>
            </a:r>
          </a:p>
        </p:txBody>
      </p:sp>
    </p:spTree>
    <p:extLst>
      <p:ext uri="{BB962C8B-B14F-4D97-AF65-F5344CB8AC3E}">
        <p14:creationId xmlns:p14="http://schemas.microsoft.com/office/powerpoint/2010/main" val="9363657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ED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5">
            <a:extLst xmlns:a="http://schemas.openxmlformats.org/drawingml/2006/main">
              <a:ext uri="{FF2B5EF4-FFF2-40B4-BE49-F238E27FC236}">
                <a16:creationId xmlns:a16="http://schemas.microsoft.com/office/drawing/2014/main" id="{EA1BC6B7-7D34-412F-99D3-D78CEA2F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GOJO</a:t>
            </a:r>
          </a:p>
        </p:txBody>
      </p:sp>
      <p:sp>
        <p:nvSpPr>
          <p:cNvPr id="2" name="brand-accent-5">
            <a:extLst xmlns:a="http://schemas.openxmlformats.org/drawingml/2006/main">
              <a:ext uri="{FF2B5EF4-FFF2-40B4-BE49-F238E27FC236}">
                <a16:creationId xmlns:a16="http://schemas.microsoft.com/office/drawing/2014/main" id="{2C934A34-5091-413D-B2F0-17148BC7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5">
            <a:extLst xmlns:a="http://schemas.openxmlformats.org/drawingml/2006/main">
              <a:ext uri="{FF2B5EF4-FFF2-40B4-BE49-F238E27FC236}">
                <a16:creationId xmlns:a16="http://schemas.microsoft.com/office/drawing/2014/main" id="{823B53AB-4921-4E09-9460-E128B439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36D"/>
                </a:solidFill>
                <a:latin typeface="Helvetica Neue"/>
                <a:ea typeface="Helvetica Neue"/>
                <a:cs typeface="Helvetica Neue"/>
              </a:rPr>
              <a:t>THE WEDGE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A6089996-C266-48B5-B974-2E231FCD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3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dist-title">
            <a:extLst xmlns:a="http://schemas.openxmlformats.org/drawingml/2006/main">
              <a:ext uri="{FF2B5EF4-FFF2-40B4-BE49-F238E27FC236}">
                <a16:creationId xmlns:a16="http://schemas.microsoft.com/office/drawing/2014/main" id="{FED8A9AD-394D-4CEB-B444-0BCC7CCA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Own the morning moment—</a:t>
            </a:r>
          </a:p>
          <a:p xmlns:a="http://schemas.openxmlformats.org/drawingml/2006/main">
            <a:pPr algn="l">
              <a:defRPr sz="35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then deepen the relationship.</a:t>
            </a:r>
          </a:p>
        </p:txBody>
      </p:sp>
      <p:sp>
        <p:nvSpPr>
          <p:cNvPr id="6" name="dist-line">
            <a:extLst xmlns:a="http://schemas.openxmlformats.org/drawingml/2006/main">
              <a:ext uri="{FF2B5EF4-FFF2-40B4-BE49-F238E27FC236}">
                <a16:creationId xmlns:a16="http://schemas.microsoft.com/office/drawing/2014/main" id="{E1DA3ABB-44FE-4858-8BDC-16B8EAE5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866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ist-dot-0">
            <a:extLst xmlns:a="http://schemas.openxmlformats.org/drawingml/2006/main">
              <a:ext uri="{FF2B5EF4-FFF2-40B4-BE49-F238E27FC236}">
                <a16:creationId xmlns:a16="http://schemas.microsoft.com/office/drawing/2014/main" id="{944A6068-1E90-4873-A3D9-084337A5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ist-phase-0">
            <a:extLst xmlns:a="http://schemas.openxmlformats.org/drawingml/2006/main">
              <a:ext uri="{FF2B5EF4-FFF2-40B4-BE49-F238E27FC236}">
                <a16:creationId xmlns:a16="http://schemas.microsoft.com/office/drawing/2014/main" id="{A1283E33-51A0-48A1-946D-33657B38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9" name="dist-head-0">
            <a:extLst xmlns:a="http://schemas.openxmlformats.org/drawingml/2006/main">
              <a:ext uri="{FF2B5EF4-FFF2-40B4-BE49-F238E27FC236}">
                <a16:creationId xmlns:a16="http://schemas.microsoft.com/office/drawing/2014/main" id="{3606D8FF-095A-4718-A3E7-8280B5B7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Email + audio</a:t>
            </a:r>
          </a:p>
        </p:txBody>
      </p:sp>
      <p:sp>
        <p:nvSpPr>
          <p:cNvPr id="10" name="dist-body-0">
            <a:extLst xmlns:a="http://schemas.openxmlformats.org/drawingml/2006/main">
              <a:ext uri="{FF2B5EF4-FFF2-40B4-BE49-F238E27FC236}">
                <a16:creationId xmlns:a16="http://schemas.microsoft.com/office/drawing/2014/main" id="{17583995-2143-442D-9FF3-2C094058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A visual digest creates the open. One tap launches the full spoken briefing.</a:t>
            </a:r>
          </a:p>
        </p:txBody>
      </p:sp>
      <p:sp>
        <p:nvSpPr>
          <p:cNvPr id="11" name="dist-dot-1">
            <a:extLst xmlns:a="http://schemas.openxmlformats.org/drawingml/2006/main">
              <a:ext uri="{FF2B5EF4-FFF2-40B4-BE49-F238E27FC236}">
                <a16:creationId xmlns:a16="http://schemas.microsoft.com/office/drawing/2014/main" id="{B55EDBEC-EC2F-4BB0-A917-3EA96644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004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E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ist-phase-1">
            <a:extLst xmlns:a="http://schemas.openxmlformats.org/drawingml/2006/main">
              <a:ext uri="{FF2B5EF4-FFF2-40B4-BE49-F238E27FC236}">
                <a16:creationId xmlns:a16="http://schemas.microsoft.com/office/drawing/2014/main" id="{DC20A6EE-E386-4135-98AC-A4528D15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2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13" name="dist-head-1">
            <a:extLst xmlns:a="http://schemas.openxmlformats.org/drawingml/2006/main">
              <a:ext uri="{FF2B5EF4-FFF2-40B4-BE49-F238E27FC236}">
                <a16:creationId xmlns:a16="http://schemas.microsoft.com/office/drawing/2014/main" id="{DFE1E00A-4E8E-471D-80A5-34E90D0B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Behavioral learning</a:t>
            </a:r>
          </a:p>
        </p:txBody>
      </p:sp>
      <p:sp>
        <p:nvSpPr>
          <p:cNvPr id="14" name="dist-body-1">
            <a:extLst xmlns:a="http://schemas.openxmlformats.org/drawingml/2006/main">
              <a:ext uri="{FF2B5EF4-FFF2-40B4-BE49-F238E27FC236}">
                <a16:creationId xmlns:a16="http://schemas.microsoft.com/office/drawing/2014/main" id="{72609608-AA6F-449E-AB2B-7680E65E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2437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Follows, skips and “more like this” signals sharpen the editorial profile.</a:t>
            </a:r>
          </a:p>
        </p:txBody>
      </p:sp>
      <p:sp>
        <p:nvSpPr>
          <p:cNvPr id="15" name="dist-dot-2">
            <a:extLst xmlns:a="http://schemas.openxmlformats.org/drawingml/2006/main">
              <a:ext uri="{FF2B5EF4-FFF2-40B4-BE49-F238E27FC236}">
                <a16:creationId xmlns:a16="http://schemas.microsoft.com/office/drawing/2014/main" id="{1F425A02-8C8A-4102-80FF-DC4DA218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ist-phase-2">
            <a:extLst xmlns:a="http://schemas.openxmlformats.org/drawingml/2006/main">
              <a:ext uri="{FF2B5EF4-FFF2-40B4-BE49-F238E27FC236}">
                <a16:creationId xmlns:a16="http://schemas.microsoft.com/office/drawing/2014/main" id="{85E9EB90-516F-4318-8329-9A54928E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62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rPr>
              <a:t>LATER</a:t>
            </a:r>
          </a:p>
        </p:txBody>
      </p:sp>
      <p:sp>
        <p:nvSpPr>
          <p:cNvPr id="17" name="dist-head-2">
            <a:extLst xmlns:a="http://schemas.openxmlformats.org/drawingml/2006/main">
              <a:ext uri="{FF2B5EF4-FFF2-40B4-BE49-F238E27FC236}">
                <a16:creationId xmlns:a16="http://schemas.microsoft.com/office/drawing/2014/main" id="{92128896-9BFF-40D3-BC7F-83A6722E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00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Interactive voice</a:t>
            </a:r>
          </a:p>
        </p:txBody>
      </p:sp>
      <p:sp>
        <p:nvSpPr>
          <p:cNvPr id="18" name="dist-body-2">
            <a:extLst xmlns:a="http://schemas.openxmlformats.org/drawingml/2006/main">
              <a:ext uri="{FF2B5EF4-FFF2-40B4-BE49-F238E27FC236}">
                <a16:creationId xmlns:a16="http://schemas.microsoft.com/office/drawing/2014/main" id="{15AEDDFC-B687-4F7A-AB71-8E655F91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2437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Listeners talk back, ask follow-ups and move from broadcast to conversation.</a:t>
            </a:r>
          </a:p>
        </p:txBody>
      </p:sp>
      <p:sp>
        <p:nvSpPr>
          <p:cNvPr id="19" name="dist-note">
            <a:extLst xmlns:a="http://schemas.openxmlformats.org/drawingml/2006/main">
              <a:ext uri="{FF2B5EF4-FFF2-40B4-BE49-F238E27FC236}">
                <a16:creationId xmlns:a16="http://schemas.microsoft.com/office/drawing/2014/main" id="{EC47A647-ABB9-4F6A-B596-A78CD918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483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Email is the acquisition surface. Audio is the habit. Conversation is the retention moat.</a:t>
            </a:r>
          </a:p>
        </p:txBody>
      </p:sp>
    </p:spTree>
    <p:extLst>
      <p:ext uri="{BB962C8B-B14F-4D97-AF65-F5344CB8AC3E}">
        <p14:creationId xmlns:p14="http://schemas.microsoft.com/office/powerpoint/2010/main" val="18868132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6">
            <a:extLst xmlns:a="http://schemas.openxmlformats.org/drawingml/2006/main">
              <a:ext uri="{FF2B5EF4-FFF2-40B4-BE49-F238E27FC236}">
                <a16:creationId xmlns:a16="http://schemas.microsoft.com/office/drawing/2014/main" id="{C62590EF-113C-4FF9-8336-6D8C5F9B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GOJO</a:t>
            </a:r>
          </a:p>
        </p:txBody>
      </p:sp>
      <p:sp>
        <p:nvSpPr>
          <p:cNvPr id="2" name="brand-accent-6">
            <a:extLst xmlns:a="http://schemas.openxmlformats.org/drawingml/2006/main">
              <a:ext uri="{FF2B5EF4-FFF2-40B4-BE49-F238E27FC236}">
                <a16:creationId xmlns:a16="http://schemas.microsoft.com/office/drawing/2014/main" id="{5C489BDB-6322-4C79-8FD7-D8C7703B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6">
            <a:extLst xmlns:a="http://schemas.openxmlformats.org/drawingml/2006/main">
              <a:ext uri="{FF2B5EF4-FFF2-40B4-BE49-F238E27FC236}">
                <a16:creationId xmlns:a16="http://schemas.microsoft.com/office/drawing/2014/main" id="{69684B1F-01E9-49C6-8EFC-C90B1C68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36D"/>
                </a:solidFill>
                <a:latin typeface="Helvetica Neue"/>
                <a:ea typeface="Helvetica Neue"/>
                <a:cs typeface="Helvetica Neue"/>
              </a:rPr>
              <a:t>BUSINESS MODEL</a:t>
            </a:r>
          </a:p>
        </p:txBody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C7A85EA5-B4CD-4651-847E-AA2E9133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3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model-title">
            <a:extLst xmlns:a="http://schemas.openxmlformats.org/drawingml/2006/main">
              <a:ext uri="{FF2B5EF4-FFF2-40B4-BE49-F238E27FC236}">
                <a16:creationId xmlns:a16="http://schemas.microsoft.com/office/drawing/2014/main" id="{AE4DD3BB-1686-490E-AD53-5ADB785F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A subscription product with</a:t>
            </a:r>
          </a:p>
          <a:p xmlns:a="http://schemas.openxmlformats.org/drawingml/2006/main">
            <a:pPr algn="l">
              <a:defRPr sz="33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compounding editorial intelligence.</a:t>
            </a:r>
          </a:p>
        </p:txBody>
      </p:sp>
      <p:sp>
        <p:nvSpPr>
          <p:cNvPr id="6" name="m-card-0">
            <a:extLst xmlns:a="http://schemas.openxmlformats.org/drawingml/2006/main">
              <a:ext uri="{FF2B5EF4-FFF2-40B4-BE49-F238E27FC236}">
                <a16:creationId xmlns:a16="http://schemas.microsoft.com/office/drawing/2014/main" id="{CFE5761D-0AD2-4A23-B334-C2F48513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4125"/>
            <a:ext cx="33909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-tier-0">
            <a:extLst xmlns:a="http://schemas.openxmlformats.org/drawingml/2006/main">
              <a:ext uri="{FF2B5EF4-FFF2-40B4-BE49-F238E27FC236}">
                <a16:creationId xmlns:a16="http://schemas.microsoft.com/office/drawing/2014/main" id="{B17C4DCB-ADF2-4AFB-9917-295952E9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rPr>
              <a:t>FREE</a:t>
            </a:r>
          </a:p>
        </p:txBody>
      </p:sp>
      <p:sp>
        <p:nvSpPr>
          <p:cNvPr id="8" name="m-head-0">
            <a:extLst xmlns:a="http://schemas.openxmlformats.org/drawingml/2006/main">
              <a:ext uri="{FF2B5EF4-FFF2-40B4-BE49-F238E27FC236}">
                <a16:creationId xmlns:a16="http://schemas.microsoft.com/office/drawing/2014/main" id="{52135380-E934-477E-A21D-FC399E23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Habit formation</a:t>
            </a:r>
          </a:p>
        </p:txBody>
      </p:sp>
      <p:sp>
        <p:nvSpPr>
          <p:cNvPr id="9" name="m-body-0">
            <a:extLst xmlns:a="http://schemas.openxmlformats.org/drawingml/2006/main">
              <a:ext uri="{FF2B5EF4-FFF2-40B4-BE49-F238E27FC236}">
                <a16:creationId xmlns:a16="http://schemas.microsoft.com/office/drawing/2014/main" id="{4CE27145-F6BC-4751-8F49-DA18AFE2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Limited weekly briefings</a:t>
            </a:r>
          </a:p>
          <a:p xmlns:a="http://schemas.openxmlformats.org/drawingml/2006/main">
            <a:pPr algn="l">
              <a:defRPr sz="1350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and core topic tuning</a:t>
            </a:r>
          </a:p>
        </p:txBody>
      </p:sp>
      <p:sp>
        <p:nvSpPr>
          <p:cNvPr id="10" name="m-card-1">
            <a:extLst xmlns:a="http://schemas.openxmlformats.org/drawingml/2006/main">
              <a:ext uri="{FF2B5EF4-FFF2-40B4-BE49-F238E27FC236}">
                <a16:creationId xmlns:a16="http://schemas.microsoft.com/office/drawing/2014/main" id="{F08D475E-1515-4911-AEA5-4EDA948D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24125"/>
            <a:ext cx="33909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-tier-1">
            <a:extLst xmlns:a="http://schemas.openxmlformats.org/drawingml/2006/main">
              <a:ext uri="{FF2B5EF4-FFF2-40B4-BE49-F238E27FC236}">
                <a16:creationId xmlns:a16="http://schemas.microsoft.com/office/drawing/2014/main" id="{75365734-56AD-49DA-813C-B61D589D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622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E2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7E23F"/>
                </a:solidFill>
                <a:latin typeface="Helvetica Neue"/>
                <a:ea typeface="Helvetica Neue"/>
                <a:cs typeface="Helvetica Neue"/>
              </a:rPr>
              <a:t>PRO</a:t>
            </a:r>
          </a:p>
        </p:txBody>
      </p:sp>
      <p:sp>
        <p:nvSpPr>
          <p:cNvPr id="12" name="m-head-1">
            <a:extLst xmlns:a="http://schemas.openxmlformats.org/drawingml/2006/main">
              <a:ext uri="{FF2B5EF4-FFF2-40B4-BE49-F238E27FC236}">
                <a16:creationId xmlns:a16="http://schemas.microsoft.com/office/drawing/2014/main" id="{DB6D994D-F7B0-4DBE-8E55-3D3A603F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861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ED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2EDDF"/>
                </a:solidFill>
                <a:latin typeface="Helvetica Neue"/>
                <a:ea typeface="Helvetica Neue"/>
                <a:cs typeface="Helvetica Neue"/>
              </a:rPr>
              <a:t>Primary revenue</a:t>
            </a:r>
          </a:p>
        </p:txBody>
      </p:sp>
      <p:sp>
        <p:nvSpPr>
          <p:cNvPr id="13" name="m-body-1">
            <a:extLst xmlns:a="http://schemas.openxmlformats.org/drawingml/2006/main">
              <a:ext uri="{FF2B5EF4-FFF2-40B4-BE49-F238E27FC236}">
                <a16:creationId xmlns:a16="http://schemas.microsoft.com/office/drawing/2014/main" id="{18C9AAE0-B14E-4AEC-BE30-E82EF3B5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0050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2ED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2EDDF"/>
                </a:solidFill>
                <a:latin typeface="Helvetica Neue"/>
                <a:ea typeface="Helvetica Neue"/>
                <a:cs typeface="Helvetica Neue"/>
              </a:rPr>
              <a:t>Daily delivery, deeper tuning,</a:t>
            </a:r>
          </a:p>
          <a:p xmlns:a="http://schemas.openxmlformats.org/drawingml/2006/main">
            <a:pPr algn="l">
              <a:defRPr sz="1350" b="0">
                <a:solidFill>
                  <a:srgbClr val="F2ED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2EDDF"/>
                </a:solidFill>
                <a:latin typeface="Helvetica Neue"/>
                <a:ea typeface="Helvetica Neue"/>
                <a:cs typeface="Helvetica Neue"/>
              </a:rPr>
              <a:t>archive and follow-up access</a:t>
            </a:r>
          </a:p>
        </p:txBody>
      </p:sp>
      <p:sp>
        <p:nvSpPr>
          <p:cNvPr id="14" name="m-card-2">
            <a:extLst xmlns:a="http://schemas.openxmlformats.org/drawingml/2006/main">
              <a:ext uri="{FF2B5EF4-FFF2-40B4-BE49-F238E27FC236}">
                <a16:creationId xmlns:a16="http://schemas.microsoft.com/office/drawing/2014/main" id="{5829ED5A-3D22-45F3-AA57-5B167676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24125"/>
            <a:ext cx="33909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-tier-2">
            <a:extLst xmlns:a="http://schemas.openxmlformats.org/drawingml/2006/main">
              <a:ext uri="{FF2B5EF4-FFF2-40B4-BE49-F238E27FC236}">
                <a16:creationId xmlns:a16="http://schemas.microsoft.com/office/drawing/2014/main" id="{2EB94F46-F382-4590-A25F-F9011369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rPr>
              <a:t>B2B</a:t>
            </a:r>
          </a:p>
        </p:txBody>
      </p:sp>
      <p:sp>
        <p:nvSpPr>
          <p:cNvPr id="16" name="m-head-2">
            <a:extLst xmlns:a="http://schemas.openxmlformats.org/drawingml/2006/main">
              <a:ext uri="{FF2B5EF4-FFF2-40B4-BE49-F238E27FC236}">
                <a16:creationId xmlns:a16="http://schemas.microsoft.com/office/drawing/2014/main" id="{0D57AF10-38FD-438E-8458-EF6AD2A7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861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Expansion</a:t>
            </a:r>
          </a:p>
        </p:txBody>
      </p:sp>
      <p:sp>
        <p:nvSpPr>
          <p:cNvPr id="17" name="m-body-2">
            <a:extLst xmlns:a="http://schemas.openxmlformats.org/drawingml/2006/main">
              <a:ext uri="{FF2B5EF4-FFF2-40B4-BE49-F238E27FC236}">
                <a16:creationId xmlns:a16="http://schemas.microsoft.com/office/drawing/2014/main" id="{7B401CBF-7C0F-4D7E-9D1D-92474883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Executive briefings, team feeds</a:t>
            </a:r>
          </a:p>
          <a:p xmlns:a="http://schemas.openxmlformats.org/drawingml/2006/main">
            <a:pPr algn="l">
              <a:defRPr sz="1350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and licensed briefing infrastructure</a:t>
            </a:r>
          </a:p>
        </p:txBody>
      </p:sp>
      <p:sp>
        <p:nvSpPr>
          <p:cNvPr id="18" name="moat-label">
            <a:extLst xmlns:a="http://schemas.openxmlformats.org/drawingml/2006/main">
              <a:ext uri="{FF2B5EF4-FFF2-40B4-BE49-F238E27FC236}">
                <a16:creationId xmlns:a16="http://schemas.microsoft.com/office/drawing/2014/main" id="{10BD0E58-26A6-48B1-8796-6F4CD5EE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rPr>
              <a:t>DEFENSIBILITY</a:t>
            </a:r>
          </a:p>
        </p:txBody>
      </p:sp>
      <p:sp>
        <p:nvSpPr>
          <p:cNvPr id="19" name="moat">
            <a:extLst xmlns:a="http://schemas.openxmlformats.org/drawingml/2006/main">
              <a:ext uri="{FF2B5EF4-FFF2-40B4-BE49-F238E27FC236}">
                <a16:creationId xmlns:a16="http://schemas.microsoft.com/office/drawing/2014/main" id="{8FB1062B-7F00-4E3B-8099-EE03BD39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81675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Preference history + feedback signals + trusted delivery = a briefing that gets harder to replace every day.</a:t>
            </a:r>
          </a:p>
        </p:txBody>
      </p:sp>
    </p:spTree>
    <p:extLst>
      <p:ext uri="{BB962C8B-B14F-4D97-AF65-F5344CB8AC3E}">
        <p14:creationId xmlns:p14="http://schemas.microsoft.com/office/powerpoint/2010/main" val="2034448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62E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sk-brand">
            <a:extLst xmlns:a="http://schemas.openxmlformats.org/drawingml/2006/main">
              <a:ext uri="{FF2B5EF4-FFF2-40B4-BE49-F238E27FC236}">
                <a16:creationId xmlns:a16="http://schemas.microsoft.com/office/drawing/2014/main" id="{F64392A0-7929-4784-AB8C-92E27E1D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ED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2EDDF"/>
                </a:solidFill>
                <a:latin typeface="Helvetica Neue"/>
                <a:ea typeface="Helvetica Neue"/>
                <a:cs typeface="Helvetica Neue"/>
              </a:rPr>
              <a:t>GOJO</a:t>
            </a:r>
          </a:p>
        </p:txBody>
      </p:sp>
      <p:sp>
        <p:nvSpPr>
          <p:cNvPr id="2" name="ask-accent">
            <a:extLst xmlns:a="http://schemas.openxmlformats.org/drawingml/2006/main">
              <a:ext uri="{FF2B5EF4-FFF2-40B4-BE49-F238E27FC236}">
                <a16:creationId xmlns:a16="http://schemas.microsoft.com/office/drawing/2014/main" id="{6668FA90-F55A-4828-9A14-5EC3A092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sk-label">
            <a:extLst xmlns:a="http://schemas.openxmlformats.org/drawingml/2006/main">
              <a:ext uri="{FF2B5EF4-FFF2-40B4-BE49-F238E27FC236}">
                <a16:creationId xmlns:a16="http://schemas.microsoft.com/office/drawing/2014/main" id="{BB4AA6A6-CAD7-4664-B820-6DCCB49D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7E2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7E23F"/>
                </a:solidFill>
                <a:latin typeface="Helvetica Neue"/>
                <a:ea typeface="Helvetica Neue"/>
                <a:cs typeface="Helvetica Neue"/>
              </a:rPr>
              <a:t>PRE-SEED</a:t>
            </a:r>
          </a:p>
        </p:txBody>
      </p:sp>
      <p:sp>
        <p:nvSpPr>
          <p:cNvPr id="4" name="ask-title">
            <a:extLst xmlns:a="http://schemas.openxmlformats.org/drawingml/2006/main">
              <a:ext uri="{FF2B5EF4-FFF2-40B4-BE49-F238E27FC236}">
                <a16:creationId xmlns:a16="http://schemas.microsoft.com/office/drawing/2014/main" id="{44F4598D-E0AB-43BC-AE96-A1107702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F2ED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>
                <a:solidFill>
                  <a:srgbClr val="F2EDDF"/>
                </a:solidFill>
                <a:latin typeface="Helvetica Neue"/>
                <a:ea typeface="Helvetica Neue"/>
                <a:cs typeface="Helvetica Neue"/>
              </a:rPr>
              <a:t>Fund the proof</a:t>
            </a:r>
          </a:p>
          <a:p xmlns:a="http://schemas.openxmlformats.org/drawingml/2006/main">
            <a:pPr algn="l">
              <a:defRPr sz="4200" b="0">
                <a:solidFill>
                  <a:srgbClr val="F2ED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>
                <a:solidFill>
                  <a:srgbClr val="F2EDDF"/>
                </a:solidFill>
                <a:latin typeface="Helvetica Neue"/>
                <a:ea typeface="Helvetica Neue"/>
                <a:cs typeface="Helvetica Neue"/>
              </a:rPr>
              <a:t>of daily habit.</a:t>
            </a:r>
          </a:p>
        </p:txBody>
      </p:sp>
      <p:sp>
        <p:nvSpPr>
          <p:cNvPr id="5" name="ask-body">
            <a:extLst xmlns:a="http://schemas.openxmlformats.org/drawingml/2006/main">
              <a:ext uri="{FF2B5EF4-FFF2-40B4-BE49-F238E27FC236}">
                <a16:creationId xmlns:a16="http://schemas.microsoft.com/office/drawing/2014/main" id="{E5F282DE-520E-4F6A-A293-2F641252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2ED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2EDDF"/>
                </a:solidFill>
                <a:latin typeface="Helvetica Neue"/>
                <a:ea typeface="Helvetica Neue"/>
                <a:cs typeface="Helvetica Neue"/>
              </a:rPr>
              <a:t>The product works. The next milestone is proving that precise personalization, trusted context and effortless delivery create repeat listening.</a:t>
            </a:r>
          </a:p>
        </p:txBody>
      </p:sp>
      <p:sp>
        <p:nvSpPr>
          <p:cNvPr id="6" name="ask-no-0">
            <a:extLst xmlns:a="http://schemas.openxmlformats.org/drawingml/2006/main">
              <a:ext uri="{FF2B5EF4-FFF2-40B4-BE49-F238E27FC236}">
                <a16:creationId xmlns:a16="http://schemas.microsoft.com/office/drawing/2014/main" id="{50367B7D-42AA-4DB4-9CB5-39CAEFF4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338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ask-item-0">
            <a:extLst xmlns:a="http://schemas.openxmlformats.org/drawingml/2006/main">
              <a:ext uri="{FF2B5EF4-FFF2-40B4-BE49-F238E27FC236}">
                <a16:creationId xmlns:a16="http://schemas.microsoft.com/office/drawing/2014/main" id="{56636F53-FA36-446E-A27A-487ABA07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ED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2EDDF"/>
                </a:solidFill>
                <a:latin typeface="Helvetica Neue"/>
                <a:ea typeface="Helvetica Neue"/>
                <a:cs typeface="Helvetica Neue"/>
              </a:rPr>
              <a:t>Launch a focused beta</a:t>
            </a:r>
          </a:p>
        </p:txBody>
      </p:sp>
      <p:sp>
        <p:nvSpPr>
          <p:cNvPr id="8" name="ask-no-1">
            <a:extLst xmlns:a="http://schemas.openxmlformats.org/drawingml/2006/main">
              <a:ext uri="{FF2B5EF4-FFF2-40B4-BE49-F238E27FC236}">
                <a16:creationId xmlns:a16="http://schemas.microsoft.com/office/drawing/2014/main" id="{6E319AB3-1492-46E5-B53E-FD6470B5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ask-item-1">
            <a:extLst xmlns:a="http://schemas.openxmlformats.org/drawingml/2006/main">
              <a:ext uri="{FF2B5EF4-FFF2-40B4-BE49-F238E27FC236}">
                <a16:creationId xmlns:a16="http://schemas.microsoft.com/office/drawing/2014/main" id="{D892D96C-37ED-42B4-AA18-DD047531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67275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ED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2EDDF"/>
                </a:solidFill>
                <a:latin typeface="Helvetica Neue"/>
                <a:ea typeface="Helvetica Neue"/>
                <a:cs typeface="Helvetica Neue"/>
              </a:rPr>
              <a:t>Measure retention and topic fit</a:t>
            </a:r>
          </a:p>
        </p:txBody>
      </p:sp>
      <p:sp>
        <p:nvSpPr>
          <p:cNvPr id="10" name="ask-no-2">
            <a:extLst xmlns:a="http://schemas.openxmlformats.org/drawingml/2006/main">
              <a:ext uri="{FF2B5EF4-FFF2-40B4-BE49-F238E27FC236}">
                <a16:creationId xmlns:a16="http://schemas.microsoft.com/office/drawing/2014/main" id="{1A25912D-430F-49A6-BD8C-3A4D85E3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006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04B2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ask-item-2">
            <a:extLst xmlns:a="http://schemas.openxmlformats.org/drawingml/2006/main">
              <a:ext uri="{FF2B5EF4-FFF2-40B4-BE49-F238E27FC236}">
                <a16:creationId xmlns:a16="http://schemas.microsoft.com/office/drawing/2014/main" id="{38C6E872-D717-4A0C-9536-4A87C07A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00675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ED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2EDDF"/>
                </a:solidFill>
                <a:latin typeface="Helvetica Neue"/>
                <a:ea typeface="Helvetica Neue"/>
                <a:cs typeface="Helvetica Neue"/>
              </a:rPr>
              <a:t>Build mobile triggers + interactive voice</a:t>
            </a:r>
          </a:p>
        </p:txBody>
      </p:sp>
      <p:sp>
        <p:nvSpPr>
          <p:cNvPr id="12" name="ask-right">
            <a:extLst xmlns:a="http://schemas.openxmlformats.org/drawingml/2006/main">
              <a:ext uri="{FF2B5EF4-FFF2-40B4-BE49-F238E27FC236}">
                <a16:creationId xmlns:a16="http://schemas.microsoft.com/office/drawing/2014/main" id="{8D5E27ED-15D2-4296-B09D-0D17E3DA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190625"/>
            <a:ext cx="30480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sk-right-big">
            <a:extLst xmlns:a="http://schemas.openxmlformats.org/drawingml/2006/main">
              <a:ext uri="{FF2B5EF4-FFF2-40B4-BE49-F238E27FC236}">
                <a16:creationId xmlns:a16="http://schemas.microsoft.com/office/drawing/2014/main" id="{D3579E18-F3E2-4D95-9B1B-199F85AB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28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5 min</a:t>
            </a:r>
          </a:p>
        </p:txBody>
      </p:sp>
      <p:sp>
        <p:nvSpPr>
          <p:cNvPr id="14" name="ask-right-small">
            <a:extLst xmlns:a="http://schemas.openxmlformats.org/drawingml/2006/main">
              <a:ext uri="{FF2B5EF4-FFF2-40B4-BE49-F238E27FC236}">
                <a16:creationId xmlns:a16="http://schemas.microsoft.com/office/drawing/2014/main" id="{211326CD-A78A-4EE2-B1E9-306AA958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to understand</a:t>
            </a:r>
          </a:p>
          <a:p xmlns:a="http://schemas.openxmlformats.org/drawingml/2006/main">
            <a:pPr algn="ctr">
              <a:defRPr sz="20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what matters</a:t>
            </a:r>
          </a:p>
        </p:txBody>
      </p:sp>
      <p:sp>
        <p:nvSpPr>
          <p:cNvPr id="15" name="ask-contact">
            <a:extLst xmlns:a="http://schemas.openxmlformats.org/drawingml/2006/main">
              <a:ext uri="{FF2B5EF4-FFF2-40B4-BE49-F238E27FC236}">
                <a16:creationId xmlns:a16="http://schemas.microsoft.com/office/drawing/2014/main" id="{501FFB6C-1F43-420D-926E-6D23B084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GoJo · Anthony DeRosa</a:t>
            </a:r>
          </a:p>
          <a:p xmlns:a="http://schemas.openxmlformats.org/drawingml/2006/main">
            <a:pPr algn="ctr">
              <a:defRPr sz="12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2E28"/>
                </a:solidFill>
                <a:latin typeface="Helvetica Neue"/>
                <a:ea typeface="Helvetica Neue"/>
                <a:cs typeface="Helvetica Neue"/>
              </a:rPr>
              <a:t>newsdj.vercel.app</a:t>
            </a:r>
          </a:p>
        </p:txBody>
      </p:sp>
    </p:spTree>
    <p:extLst>
      <p:ext uri="{BB962C8B-B14F-4D97-AF65-F5344CB8AC3E}">
        <p14:creationId xmlns:p14="http://schemas.microsoft.com/office/powerpoint/2010/main" val="508216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2026-07-15T22:24:30.3680000Z</dcterms:created>
  <dcterms:modified xsi:type="dcterms:W3CDTF">2026-07-15T22:24:30.3680000Z</dcterms:modified>
</coreProperties>
</file>